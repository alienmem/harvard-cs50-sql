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9906000" cy="6858000"/>
  <p:embeddedFontLst>
    <p:embeddedFont>
      <p:font typeface="Play"/>
      <p:regular r:id="rId16"/>
      <p:bold r:id="rId17"/>
    </p:embeddedFont>
    <p:embeddedFont>
      <p:font typeface="Average"/>
      <p:regular r:id="rId18"/>
    </p:embeddedFont>
    <p:embeddedFont>
      <p:font typeface="Lexend"/>
      <p:regular r:id="rId19"/>
      <p:bold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65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6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xend-bold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exend-regular.fntdata"/><Relationship Id="rId6" Type="http://schemas.openxmlformats.org/officeDocument/2006/relationships/slide" Target="slides/slide1.xml"/><Relationship Id="rId18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42926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11813" y="0"/>
            <a:ext cx="42926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95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0600" y="3300417"/>
            <a:ext cx="79248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5"/>
            <a:ext cx="42926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11813" y="6513515"/>
            <a:ext cx="42926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pt-P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/>
          <p:nvPr>
            <p:ph idx="2" type="sldImg"/>
          </p:nvPr>
        </p:nvSpPr>
        <p:spPr>
          <a:xfrm>
            <a:off x="2895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1:notes"/>
          <p:cNvSpPr txBox="1"/>
          <p:nvPr>
            <p:ph idx="1" type="body"/>
          </p:nvPr>
        </p:nvSpPr>
        <p:spPr>
          <a:xfrm>
            <a:off x="990600" y="3300417"/>
            <a:ext cx="79248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Eis o meu projecto. Ele pretende simular a base de dados de uma cadeia de lojas tipo a antiga Blockbuster, em que podes alugar, comprar filmes. Comprar snacks, bebidas e outros produtos. Vai mais alem disso como veremos, tendo no entanto limitacoes, que tambem aderessaremos.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:notes"/>
          <p:cNvSpPr txBox="1"/>
          <p:nvPr>
            <p:ph idx="12" type="sldNum"/>
          </p:nvPr>
        </p:nvSpPr>
        <p:spPr>
          <a:xfrm>
            <a:off x="5611813" y="6513515"/>
            <a:ext cx="42926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990600" y="3300417"/>
            <a:ext cx="7924800" cy="2700337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:notes"/>
          <p:cNvSpPr/>
          <p:nvPr>
            <p:ph idx="2" type="sldImg"/>
          </p:nvPr>
        </p:nvSpPr>
        <p:spPr>
          <a:xfrm>
            <a:off x="2895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2d8b9f588_0_1168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2d8b9f588_0_1168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g372d8b9f588_0_1168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72d8b9f588_0_1153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72d8b9f588_0_1153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72d8b9f588_0_1153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72d8b9f588_0_1175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72d8b9f588_0_1175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72d8b9f588_0_1175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72d8b9f588_0_1182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72d8b9f588_0_1182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g372d8b9f588_0_1182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2d8b9f588_0_1189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2d8b9f588_0_1189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g372d8b9f588_0_1189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2d8b9f588_0_1196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2d8b9f588_0_1196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72d8b9f588_0_1196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2d8b9f588_0_1203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2d8b9f588_0_1203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72d8b9f588_0_1203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517d91037_0_37:notes"/>
          <p:cNvSpPr/>
          <p:nvPr>
            <p:ph idx="2" type="sldImg"/>
          </p:nvPr>
        </p:nvSpPr>
        <p:spPr>
          <a:xfrm>
            <a:off x="2895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517d91037_0_37:notes"/>
          <p:cNvSpPr txBox="1"/>
          <p:nvPr>
            <p:ph idx="1" type="body"/>
          </p:nvPr>
        </p:nvSpPr>
        <p:spPr>
          <a:xfrm>
            <a:off x="990600" y="3300417"/>
            <a:ext cx="7924800" cy="2700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4517d91037_0_37:notes"/>
          <p:cNvSpPr txBox="1"/>
          <p:nvPr>
            <p:ph idx="12" type="sldNum"/>
          </p:nvPr>
        </p:nvSpPr>
        <p:spPr>
          <a:xfrm>
            <a:off x="5611813" y="6513515"/>
            <a:ext cx="4292700" cy="34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2"/>
          <p:cNvGrpSpPr/>
          <p:nvPr/>
        </p:nvGrpSpPr>
        <p:grpSpPr>
          <a:xfrm>
            <a:off x="5800234" y="3807170"/>
            <a:ext cx="591423" cy="140843"/>
            <a:chOff x="4137525" y="2915950"/>
            <a:chExt cx="869100" cy="207000"/>
          </a:xfrm>
        </p:grpSpPr>
        <p:sp>
          <p:nvSpPr>
            <p:cNvPr id="15" name="Google Shape;15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895010" y="1321067"/>
            <a:ext cx="10401900" cy="2306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895000" y="4233168"/>
            <a:ext cx="10401900" cy="10569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95000" y="2855000"/>
            <a:ext cx="10469700" cy="11481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653667" y="701800"/>
            <a:ext cx="83028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4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5" name="Google Shape;45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9"/>
          <p:cNvSpPr txBox="1"/>
          <p:nvPr>
            <p:ph type="title"/>
          </p:nvPr>
        </p:nvSpPr>
        <p:spPr>
          <a:xfrm>
            <a:off x="354000" y="1441867"/>
            <a:ext cx="5393700" cy="22803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54000" y="37936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●"/>
              <a:defRPr>
                <a:solidFill>
                  <a:schemeClr val="lt1"/>
                </a:solidFill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●"/>
              <a:defRPr>
                <a:solidFill>
                  <a:schemeClr val="lt1"/>
                </a:solidFill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○"/>
              <a:defRPr>
                <a:solidFill>
                  <a:schemeClr val="lt1"/>
                </a:solidFill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swald"/>
              <a:buNone/>
              <a:defRPr sz="2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415600" y="1673700"/>
            <a:ext cx="11360700" cy="25209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Objeto" type="obj">
  <p:cSld name="OBJEC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38100" algn="r">
              <a:spcBef>
                <a:spcPts val="0"/>
              </a:spcBef>
              <a:buNone/>
              <a:defRPr/>
            </a:lvl1pPr>
            <a:lvl2pPr indent="0" lvl="1" marL="38100" algn="r">
              <a:spcBef>
                <a:spcPts val="0"/>
              </a:spcBef>
              <a:buNone/>
              <a:defRPr/>
            </a:lvl2pPr>
            <a:lvl3pPr indent="0" lvl="2" marL="38100" algn="r">
              <a:spcBef>
                <a:spcPts val="0"/>
              </a:spcBef>
              <a:buNone/>
              <a:defRPr/>
            </a:lvl3pPr>
            <a:lvl4pPr indent="0" lvl="3" marL="38100" algn="r">
              <a:spcBef>
                <a:spcPts val="0"/>
              </a:spcBef>
              <a:buNone/>
              <a:defRPr/>
            </a:lvl4pPr>
            <a:lvl5pPr indent="0" lvl="4" marL="38100" algn="r">
              <a:spcBef>
                <a:spcPts val="0"/>
              </a:spcBef>
              <a:buNone/>
              <a:defRPr/>
            </a:lvl5pPr>
            <a:lvl6pPr indent="0" lvl="5" marL="38100" algn="r">
              <a:spcBef>
                <a:spcPts val="0"/>
              </a:spcBef>
              <a:buNone/>
              <a:defRPr/>
            </a:lvl6pPr>
            <a:lvl7pPr indent="0" lvl="6" marL="38100" algn="r">
              <a:spcBef>
                <a:spcPts val="0"/>
              </a:spcBef>
              <a:buNone/>
              <a:defRPr/>
            </a:lvl7pPr>
            <a:lvl8pPr indent="0" lvl="7" marL="38100" algn="r">
              <a:spcBef>
                <a:spcPts val="0"/>
              </a:spcBef>
              <a:buNone/>
              <a:defRPr/>
            </a:lvl8pPr>
            <a:lvl9pPr indent="0" lvl="8" marL="38100" algn="r">
              <a:spcBef>
                <a:spcPts val="0"/>
              </a:spcBef>
              <a:buNone/>
              <a:defRPr/>
            </a:lvl9pPr>
          </a:lstStyle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Oswald"/>
              <a:buNone/>
              <a:defRPr sz="4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verage"/>
              <a:buChar char="●"/>
              <a:defRPr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●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○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900"/>
              <a:buFont typeface="Average"/>
              <a:buChar char="■"/>
              <a:defRPr sz="19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11320333" y="6241346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3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/>
        </p:nvSpPr>
        <p:spPr>
          <a:xfrm>
            <a:off x="228600" y="5791200"/>
            <a:ext cx="6019800" cy="7905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UFCD 0814 – Programação em linguagem SQL avançada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25.0082 EFA NS PRO Programador Informático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Formador: Rui Alves Pinto</a:t>
            </a:r>
            <a:endParaRPr/>
          </a:p>
        </p:txBody>
      </p:sp>
      <p:sp>
        <p:nvSpPr>
          <p:cNvPr id="71" name="Google Shape;71;p14"/>
          <p:cNvSpPr txBox="1"/>
          <p:nvPr>
            <p:ph type="ctrTitle"/>
          </p:nvPr>
        </p:nvSpPr>
        <p:spPr>
          <a:xfrm>
            <a:off x="1524000" y="2438400"/>
            <a:ext cx="9144000" cy="553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lay"/>
              <a:buNone/>
            </a:pPr>
            <a:r>
              <a:rPr b="1" lang="pt-PT" sz="3900"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lang="pt-PT" sz="3900">
                <a:latin typeface="Calibri"/>
                <a:ea typeface="Calibri"/>
                <a:cs typeface="Calibri"/>
                <a:sym typeface="Calibri"/>
              </a:rPr>
              <a:t>ony’s Titanic Titles</a:t>
            </a:r>
            <a:endParaRPr b="1" sz="55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1524000" y="2971800"/>
            <a:ext cx="9144000" cy="857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 sz="2300">
                <a:latin typeface="Calibri"/>
                <a:ea typeface="Calibri"/>
                <a:cs typeface="Calibri"/>
                <a:sym typeface="Calibri"/>
              </a:rPr>
              <a:t>Antonio Cardoso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PT" sz="2300">
                <a:latin typeface="Calibri"/>
                <a:ea typeface="Calibri"/>
                <a:cs typeface="Calibri"/>
                <a:sym typeface="Calibri"/>
              </a:rPr>
              <a:t>04/08/2025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Uma imagem com texto, cartão de visita, Tipo de letra, logótipo&#10;&#10;Descrição gerada automaticamente" id="73" name="Google Shape;7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00025"/>
            <a:ext cx="2483700" cy="553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descr="Uma imagem com texto, Tipo de letra, captura de ecrã, Azul elétrico&#10;&#10;Descrição gerada automaticamente" id="74" name="Google Shape;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75876" y="5757638"/>
            <a:ext cx="4326300" cy="8577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lt1"/>
            </a:solidFill>
            <a:prstDash val="dash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pt-PT">
                <a:latin typeface="Calibri"/>
                <a:ea typeface="Calibri"/>
                <a:cs typeface="Calibri"/>
                <a:sym typeface="Calibri"/>
              </a:rPr>
              <a:t>Finalidade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838200" y="15208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00">
                <a:latin typeface="Calibri"/>
                <a:ea typeface="Calibri"/>
                <a:cs typeface="Calibri"/>
                <a:sym typeface="Calibri"/>
              </a:rPr>
              <a:t>O objetivo desta base de dados é gerir as operações básicas de uma rede de lojas de aluguer de vídeo chamada Tony's Titanic Titles. A base de dados rastreia informações sobre a localização das lojas, clientes, stock, produtos, transações. Assemelha-se bastante à extinta rede de cadeias de vídeo Blockbuster.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100">
                <a:latin typeface="Calibri"/>
                <a:ea typeface="Calibri"/>
                <a:cs typeface="Calibri"/>
                <a:sym typeface="Calibri"/>
              </a:rPr>
              <a:t>(à la agora extinta Blockbuster”, como diriam os luso-franceses)</a:t>
            </a:r>
            <a:endParaRPr sz="2100">
              <a:latin typeface="Calibri"/>
              <a:ea typeface="Calibri"/>
              <a:cs typeface="Calibri"/>
              <a:sym typeface="Calibri"/>
            </a:endParaRPr>
          </a:p>
          <a:p>
            <a:pPr indent="-50800" lvl="0" marL="228600" rtl="0" algn="ctr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4686300" y="5872024"/>
            <a:ext cx="2819400" cy="369300"/>
            <a:chOff x="3162300" y="2354724"/>
            <a:chExt cx="2819400" cy="369300"/>
          </a:xfrm>
        </p:grpSpPr>
        <p:sp>
          <p:nvSpPr>
            <p:cNvPr id="83" name="Google Shape;83;p15"/>
            <p:cNvSpPr/>
            <p:nvPr/>
          </p:nvSpPr>
          <p:spPr>
            <a:xfrm>
              <a:off x="3162300" y="2354724"/>
              <a:ext cx="2819400" cy="369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" name="Google Shape;84;p15"/>
            <p:cNvCxnSpPr/>
            <p:nvPr/>
          </p:nvCxnSpPr>
          <p:spPr>
            <a:xfrm rot="10800000">
              <a:off x="4371577" y="2384565"/>
              <a:ext cx="0" cy="297600"/>
            </a:xfrm>
            <a:prstGeom prst="straightConnector1">
              <a:avLst/>
            </a:prstGeom>
            <a:noFill/>
            <a:ln cap="flat" cmpd="sng" w="9525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85" name="Google Shape;85;p15"/>
            <p:cNvSpPr/>
            <p:nvPr/>
          </p:nvSpPr>
          <p:spPr>
            <a:xfrm>
              <a:off x="5708248" y="2450123"/>
              <a:ext cx="141900" cy="141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4F4F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6" name="Google Shape;86;p15"/>
            <p:cNvCxnSpPr/>
            <p:nvPr/>
          </p:nvCxnSpPr>
          <p:spPr>
            <a:xfrm>
              <a:off x="5827815" y="2570405"/>
              <a:ext cx="58200" cy="58200"/>
            </a:xfrm>
            <a:prstGeom prst="straightConnector1">
              <a:avLst/>
            </a:prstGeom>
            <a:noFill/>
            <a:ln cap="flat" cmpd="sng" w="28575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38200" y="1539275"/>
            <a:ext cx="10515600" cy="4637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Locais e detalhes das lojas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Perfis de clientes e assinaturas de membros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Catálogo de produtos, categorias e formatos (por exemplo, VHS, DVD, Blu-Ray)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Acompanhamento de stock por loja e formato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Transações de aluguer e venda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Registos de pagamento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Gestão de colaboradores ou fornecedores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Avaliações de clientes ou avaliações de produtos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136">
                <a:latin typeface="Calibri"/>
                <a:ea typeface="Calibri"/>
                <a:cs typeface="Calibri"/>
                <a:sym typeface="Calibri"/>
              </a:rPr>
              <a:t>Funcionalidade de contabilidade completa</a:t>
            </a:r>
            <a:endParaRPr sz="2136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6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sp>
        <p:nvSpPr>
          <p:cNvPr id="94" name="Google Shape;94;p16"/>
          <p:cNvSpPr txBox="1"/>
          <p:nvPr/>
        </p:nvSpPr>
        <p:spPr>
          <a:xfrm>
            <a:off x="838200" y="784600"/>
            <a:ext cx="791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Alcance</a:t>
            </a:r>
            <a:endParaRPr b="1" sz="35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838200" y="3686525"/>
            <a:ext cx="79161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3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Fora do alcance</a:t>
            </a:r>
            <a:endParaRPr b="1" sz="35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>
                <a:latin typeface="Calibri"/>
                <a:ea typeface="Calibri"/>
                <a:cs typeface="Calibri"/>
                <a:sym typeface="Calibri"/>
              </a:rPr>
              <a:t>Entidades da BD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PT" sz="2715">
                <a:latin typeface="Calibri"/>
                <a:ea typeface="Calibri"/>
                <a:cs typeface="Calibri"/>
                <a:sym typeface="Calibri"/>
              </a:rPr>
              <a:t>Assim, estão incluídos no âmbito da base de dados:</a:t>
            </a:r>
            <a:endParaRPr sz="2715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Stores  ➙  ID, name, location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Customers  ➙  ID, name, email, phone, address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Products  ➙  Produtos disponíveis para venda ou aluguer (filmes, snacks, bebidas, merchandise)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Memberships ➙ Customer ID, type, start/end dates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Categories ➙ ID, name    (name in Movie, Beverage, Snack, Merchandise)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Formats ➙ ID, name (VHS, DVD, Blu-ray, 4K UHD, só  aplicável para Movies)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Products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➙ ID, name, category, price, rentable status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ProductFormats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➙ Links products to formats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Inventory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➙Store, product-format, quantity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Rentals 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➙ Customer, store, product-format, dates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Sales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➙Customer, product, quantity, date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-33987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752"/>
              <a:buFont typeface="Calibri"/>
              <a:buChar char="●"/>
            </a:pPr>
            <a:r>
              <a:rPr b="1"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Payments </a:t>
            </a:r>
            <a:r>
              <a:rPr lang="pt-PT" sz="1752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➙ Customer, amount, type, rental/sale link</a:t>
            </a:r>
            <a:endParaRPr sz="1752">
              <a:highlight>
                <a:schemeClr val="lt1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grpSp>
        <p:nvGrpSpPr>
          <p:cNvPr id="104" name="Google Shape;104;p17"/>
          <p:cNvGrpSpPr/>
          <p:nvPr/>
        </p:nvGrpSpPr>
        <p:grpSpPr>
          <a:xfrm>
            <a:off x="4686300" y="5987049"/>
            <a:ext cx="2819400" cy="369300"/>
            <a:chOff x="3162300" y="2354724"/>
            <a:chExt cx="2819400" cy="369300"/>
          </a:xfrm>
        </p:grpSpPr>
        <p:sp>
          <p:nvSpPr>
            <p:cNvPr id="105" name="Google Shape;105;p17"/>
            <p:cNvSpPr/>
            <p:nvPr/>
          </p:nvSpPr>
          <p:spPr>
            <a:xfrm>
              <a:off x="3162300" y="2354724"/>
              <a:ext cx="2819400" cy="369300"/>
            </a:xfrm>
            <a:prstGeom prst="roundRect">
              <a:avLst>
                <a:gd fmla="val 50000" name="adj"/>
              </a:avLst>
            </a:prstGeom>
            <a:solidFill>
              <a:srgbClr val="FFFFFF"/>
            </a:solidFill>
            <a:ln>
              <a:noFill/>
            </a:ln>
            <a:effectLst>
              <a:outerShdw blurRad="57150" rotWithShape="0" algn="bl" dir="5400000" dist="19050">
                <a:srgbClr val="000000">
                  <a:alpha val="100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6" name="Google Shape;106;p17"/>
            <p:cNvCxnSpPr/>
            <p:nvPr/>
          </p:nvCxnSpPr>
          <p:spPr>
            <a:xfrm rot="10800000">
              <a:off x="4371577" y="2384565"/>
              <a:ext cx="0" cy="297600"/>
            </a:xfrm>
            <a:prstGeom prst="straightConnector1">
              <a:avLst/>
            </a:prstGeom>
            <a:noFill/>
            <a:ln cap="flat" cmpd="sng" w="9525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7" name="Google Shape;107;p17"/>
            <p:cNvSpPr/>
            <p:nvPr/>
          </p:nvSpPr>
          <p:spPr>
            <a:xfrm>
              <a:off x="5708248" y="2450123"/>
              <a:ext cx="141900" cy="1419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4F4F4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08" name="Google Shape;108;p17"/>
            <p:cNvCxnSpPr/>
            <p:nvPr/>
          </p:nvCxnSpPr>
          <p:spPr>
            <a:xfrm>
              <a:off x="5827815" y="2570405"/>
              <a:ext cx="58200" cy="58200"/>
            </a:xfrm>
            <a:prstGeom prst="straightConnector1">
              <a:avLst/>
            </a:prstGeom>
            <a:noFill/>
            <a:ln cap="flat" cmpd="sng" w="28575">
              <a:solidFill>
                <a:srgbClr val="4F4F4F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  <p:pic>
        <p:nvPicPr>
          <p:cNvPr id="115" name="Google Shape;115;p18" title="TonysTitanicTitl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318" y="56200"/>
            <a:ext cx="6519506" cy="6801802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1649475" y="742150"/>
            <a:ext cx="2570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Diagrama ER</a:t>
            </a:r>
            <a:endParaRPr b="1" sz="24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 b="1" sz="24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endParaRPr b="1" sz="24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288600" y="2406300"/>
            <a:ext cx="50712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9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Linked to memberships, rentals, sales, payments (1-to-many)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Stores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Stock multiple product-formats via inventory (1-to-many)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Belong to one category, link to multiple formats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Rentals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Link one customer, store, product-format</a:t>
            </a:r>
            <a:r>
              <a:rPr lang="pt-PT" sz="15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 adjust inventory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Sales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Link customer (optional), product, format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Char char="●"/>
            </a:pPr>
            <a:r>
              <a:rPr b="1"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Payments</a:t>
            </a:r>
            <a:r>
              <a:rPr lang="pt-PT" sz="13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: Tied to one customer and one rental or sale</a:t>
            </a:r>
            <a:endParaRPr sz="13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PT"/>
              <a:t>Optimizações</a:t>
            </a:r>
            <a:endParaRPr/>
          </a:p>
        </p:txBody>
      </p:sp>
      <p:sp>
        <p:nvSpPr>
          <p:cNvPr id="124" name="Google Shape;124;p1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Exemplos de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I</a:t>
            </a:r>
            <a:r>
              <a:rPr lang="pt-PT"/>
              <a:t>NDEXES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-- Otimiza a consulta de stock por loja e formato de produto.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CREATE INDEX idx_inventory_store_product ON Inventory(store_id, product_format_id);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-- Acelera o acesso do cliente aos alugueres.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CREATE INDEX idx_rentals_customer ON Rentals(customer_id);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-- </a:t>
            </a:r>
            <a:r>
              <a:rPr lang="pt-PT"/>
              <a:t>Agiliza</a:t>
            </a:r>
            <a:r>
              <a:rPr lang="pt-PT"/>
              <a:t> o acesso do cliente às vendas.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CREATE INDEX idx_sales_customer ON Sales(customer_id);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-- Otimiza a pesquisa de formatos de produtos por produto e formato.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/>
              <a:t>CREATE INDEX idx_productformats_product_format ON ProductFormats(product_id, format_id);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Views</a:t>
            </a:r>
            <a:endParaRPr b="1" sz="24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0"/>
          <p:cNvSpPr txBox="1"/>
          <p:nvPr>
            <p:ph idx="1" type="body"/>
          </p:nvPr>
        </p:nvSpPr>
        <p:spPr>
          <a:xfrm>
            <a:off x="838200" y="1058250"/>
            <a:ext cx="10515600" cy="5118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3100">
                <a:latin typeface="Calibri"/>
                <a:ea typeface="Calibri"/>
                <a:cs typeface="Calibri"/>
                <a:sym typeface="Calibri"/>
              </a:rPr>
              <a:t>-- Lista os clientes com as subscrições de membros ativas.</a:t>
            </a:r>
            <a:endParaRPr sz="31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CREATE VIEW View_Member_Status AS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SELECT 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    c.customer_id,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    c.full_name,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    m.membership_type,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    m.start_date,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    m.end_date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FROM Memberships m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JOIN Customers c ON m.customer_id = c.customer_id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>
                <a:latin typeface="Calibri"/>
                <a:ea typeface="Calibri"/>
                <a:cs typeface="Calibri"/>
                <a:sym typeface="Calibri"/>
              </a:rPr>
              <a:t>WHERE m.end_date IS NULL OR m.end_date &gt; DATE('now');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  <a:endParaRPr b="1" sz="240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/>
              <a:t>-- Diminua o stock quando um aluguer for feito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CREATE TRIGGER trg_decrement_inventory_on_rental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AFTER INSERT ON Rentals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BEGIN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    UPDATE Inventory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    SET quantity = quantity - 1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    WHERE product_format_id = NEW.product_format_id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      AND quantity &gt; 0;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583"/>
              <a:t>END;</a:t>
            </a:r>
            <a:endParaRPr sz="1583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PT" sz="3700"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lang="pt-PT" sz="3700">
                <a:latin typeface="Calibri"/>
                <a:ea typeface="Calibri"/>
                <a:cs typeface="Calibri"/>
                <a:sym typeface="Calibri"/>
              </a:rPr>
              <a:t>nserts</a:t>
            </a:r>
            <a:endParaRPr sz="37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8054">
                <a:latin typeface="Calibri"/>
                <a:ea typeface="Calibri"/>
                <a:cs typeface="Calibri"/>
                <a:sym typeface="Calibri"/>
              </a:rPr>
              <a:t>- Add a new store</a:t>
            </a:r>
            <a:endParaRPr sz="8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5254">
                <a:latin typeface="Calibri"/>
                <a:ea typeface="Calibri"/>
                <a:cs typeface="Calibri"/>
                <a:sym typeface="Calibri"/>
              </a:rPr>
              <a:t>INSERT INTO Stores (store_id, store_name, location)</a:t>
            </a:r>
            <a:endParaRPr sz="52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5254">
                <a:latin typeface="Calibri"/>
                <a:ea typeface="Calibri"/>
                <a:cs typeface="Calibri"/>
                <a:sym typeface="Calibri"/>
              </a:rPr>
              <a:t>VALUES (1, 'Titanic Titles Porto', 'Rua das Videotapes 123, Porto');</a:t>
            </a:r>
            <a:endParaRPr sz="52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8054">
                <a:latin typeface="Calibri"/>
                <a:ea typeface="Calibri"/>
                <a:cs typeface="Calibri"/>
                <a:sym typeface="Calibri"/>
              </a:rPr>
              <a:t>-- Add a new customer</a:t>
            </a:r>
            <a:endParaRPr sz="8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6054">
                <a:latin typeface="Calibri"/>
                <a:ea typeface="Calibri"/>
                <a:cs typeface="Calibri"/>
                <a:sym typeface="Calibri"/>
              </a:rPr>
              <a:t>INSERT INTO Customers (customer_id, full_name, email, phone, address)</a:t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6054">
                <a:latin typeface="Calibri"/>
                <a:ea typeface="Calibri"/>
                <a:cs typeface="Calibri"/>
                <a:sym typeface="Calibri"/>
              </a:rPr>
              <a:t>VALUES (101, 'Ana Costa', 'ana.costa@example.com', '912345678', 'Avenida das Locadoras, 456');</a:t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8054">
                <a:latin typeface="Calibri"/>
                <a:ea typeface="Calibri"/>
                <a:cs typeface="Calibri"/>
                <a:sym typeface="Calibri"/>
              </a:rPr>
              <a:t>-- Add a new product category</a:t>
            </a:r>
            <a:endParaRPr sz="8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6054">
                <a:latin typeface="Calibri"/>
                <a:ea typeface="Calibri"/>
                <a:cs typeface="Calibri"/>
                <a:sym typeface="Calibri"/>
              </a:rPr>
              <a:t>INSERT INTO Categories (category_id, name)</a:t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6054">
                <a:latin typeface="Calibri"/>
                <a:ea typeface="Calibri"/>
                <a:cs typeface="Calibri"/>
                <a:sym typeface="Calibri"/>
              </a:rPr>
              <a:t>VALUES (1, 'Movie');</a:t>
            </a:r>
            <a:endParaRPr sz="6054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1600"/>
              </a:spcAft>
              <a:buNone/>
            </a:pPr>
            <a:r>
              <a:rPr b="1" lang="pt-PT"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S</a:t>
            </a:r>
            <a:r>
              <a:rPr b="1" lang="pt-PT" sz="24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ubqueries</a:t>
            </a:r>
            <a:endParaRPr b="1"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pt-PT" sz="1900"/>
              <a:t>--Products Never Sold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SELECT name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FROM Products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WHERE product_id NOT IN (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    SELECT DISTINCT product_id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    FROM Sales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pt-PT" sz="1900"/>
              <a:t>);</a:t>
            </a:r>
            <a:endParaRPr sz="19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3810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PT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